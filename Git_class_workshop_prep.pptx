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P6POaqsAFQyd4igb6ey9tAXNi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Welcome. Today: all 3 modules in the morning lecture, then a 3.5-hour hands-on workshop. Everything you learn will be used in the workshop.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expectations: they already know commit/push/pull. Each outcome maps to a workshop part this afternoon.</a:t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divider. Ask the room: who can tell me what happens when you run git commit? Collect 2-3 guesses.</a:t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are real questions from past students. Promise: by the end of this section, both disappear.</a:t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 — run these 5 commands in a terminal on screen. Let students run along. The key point: HEAD is one line of text.</a:t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Left = safe everyday state. Right = detached. The danger: commits made while detached have no branch pointing at them → garbage collected. Fix: git checkout -b rescue.</a:t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slide (replaces the empty one). A commit = snapshot + parent pointer + metadata. History is a chain of these. Branches and HEAD are just labels on the chain. This mental model powers everything in Module 2.</a:t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cat .git/refs/heads/main live. A branch is ONE file with ONE SHA. That's why branching in Git is instant and free.</a:t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SIMPLIFIED from GitFlow map. Start with GitHub Flow — that's what the workshop uses. Show GitFlow as 'the heavyweight option' with only 3 rules. Don't drill every GitFlow lane.</a:t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divider. One rule to remember from this whole module: never rebase pushed shared commits.</a:t>
            </a:r>
            <a:endParaRPr/>
          </a:p>
        </p:txBody>
      </p:sp>
      <p:sp>
        <p:nvSpPr>
          <p:cNvPr id="243" name="Google Shape;2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SETUP (do this in a scratch clone before class): edit any file 3 times, committing as 'wip', 'typo', 'PLEASE WORK'. LIVE: show git log --oneline and ask: could a reviewer understand what changed? Everyone laughs at PLEASE WORK — let them. Point: history is communication; you clean it BEFORE the PR. Keep this terminal open — slide 12 cleans this exact mess.</a:t>
            </a:r>
            <a:endParaRPr/>
          </a:p>
        </p:txBody>
      </p:sp>
      <p:sp>
        <p:nvSpPr>
          <p:cNvPr id="253" name="Google Shape;25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(continue from slide 11's messy repo): git rebase -i HEAD~3 → the editor opens → leave the first line as pick, change the two below to fixup → save+close → git log --oneline now shows ONE commit → git commit --amend to reword it nicely. Do it slowly; the editor screen is the scary part. 4 everyday actions = pick/reword/squash/fixup; drop is the dangerous 5th (deletes work). End on the Golden Rule — the one thing they must not forget.</a:t>
            </a:r>
            <a:endParaRPr/>
          </a:p>
        </p:txBody>
      </p:sp>
      <p:sp>
        <p:nvSpPr>
          <p:cNvPr id="278" name="Google Shape;2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cherry-pick: run git log --oneline, copy any earlier commit sha → git checkout -b demo-pick main → git cherry-pick &lt;sha&gt; → git log shows the commit copied over (new sha, same change!). LIVE stash: edit a file → git stash push -m 'demo WIP' → git status is clean → git stash list → git stash apply. Message: cherry-pick copies ONE commit anywhere; stash is a named shelf, not just push/pop.</a:t>
            </a:r>
            <a:endParaRPr/>
          </a:p>
        </p:txBody>
      </p:sp>
      <p:sp>
        <p:nvSpPr>
          <p:cNvPr id="304" name="Google Shape;30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STOP TEACHING HERE. Hand out EXERCISE1.txt (or post the link). Students build their OWN public repo and practice everything from slides 1-13, documenting every answer and output in README.md. 1.5 hours. They send you the repo URL when done. Circulate and help. Restart lecture at the section-3 divider when time is up.</a:t>
            </a:r>
            <a:endParaRPr/>
          </a:p>
        </p:txBody>
      </p:sp>
      <p:sp>
        <p:nvSpPr>
          <p:cNvPr id="331" name="Google Shape;33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divider. Theme: Git protects you — hooks stop mistakes before they happen, reflog undoes them after.</a:t>
            </a:r>
            <a:endParaRPr/>
          </a:p>
        </p:txBody>
      </p:sp>
      <p:sp>
        <p:nvSpPr>
          <p:cNvPr id="359" name="Google Shape;35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LIVE: ls .git/hooks/ — point at all the .sample files: every repo ships with disabled example hooks; removing .sample (and chmod +x) activates one. Focus on the two ★ rows — pre-commit and commit-msg — students install both in Exercise 2. The rest of the table is reference.</a:t>
            </a:r>
            <a:endParaRPr/>
          </a:p>
        </p:txBody>
      </p:sp>
      <p:sp>
        <p:nvSpPr>
          <p:cNvPr id="369" name="Google Shape;36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LIVE: cp hooks-examples/pre-commit .git/hooks/ → chmod +x .git/hooks/pre-commit → echo 'password = \</a:t>
            </a:r>
            <a:endParaRPr/>
          </a:p>
        </p:txBody>
      </p:sp>
      <p:sp>
        <p:nvSpPr>
          <p:cNvPr id="415" name="Google Shape;41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Scenario first: deep in a refactor, urgent bug arrives. LIVE: git worktree add ../demo-hotfix main → ls .. (two folders!) → cd ../demo-hotfix → git status (clean, on main) → touch fix.txt; git add .; git commit -m 'fix: demo' → cd back → git worktree list → git worktree remove ../demo-hotfix --force. Message: second folder, same .git, zero stashing.</a:t>
            </a:r>
            <a:endParaRPr/>
          </a:p>
        </p:txBody>
      </p:sp>
      <p:sp>
        <p:nvSpPr>
          <p:cNvPr id="443" name="Google Shape;44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(the crowd-pleaser): make 2 quick commits → git log --oneline (there they are) → git reset --hard HEAD~2 → git log (GONE — pause for effect) → git reflog (still there!) → git reset --hard HEAD@{2} → git log (back). One sentence to remember: Git almost never deletes commits; reflog is the diary of where HEAD has been. Students repeat this drill in Exercise 2.</a:t>
            </a:r>
            <a:endParaRPr/>
          </a:p>
        </p:txBody>
      </p:sp>
      <p:sp>
        <p:nvSpPr>
          <p:cNvPr id="463" name="Google Shape;46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slide up during the break — it's the cheat sheet. Each card: symptom → 2-line fix. Rule 1 of secrets: rotate the key FIRST, removing from history is second.</a:t>
            </a:r>
            <a:endParaRPr/>
          </a:p>
        </p:txBody>
      </p:sp>
      <p:sp>
        <p:nvSpPr>
          <p:cNvPr id="489" name="Google Shape;48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8b9162472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8b9162472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slide up during the break — it's the cheat sheet. Each card: symptom → 2-line fix. Rule 1 of secrets: rotate the key FIRST, removing from history is second.</a:t>
            </a:r>
            <a:endParaRPr/>
          </a:p>
        </p:txBody>
      </p:sp>
      <p:sp>
        <p:nvSpPr>
          <p:cNvPr id="524" name="Google Shape;524;g38b9162472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333500" y="2131219"/>
            <a:ext cx="17183100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{ git }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333500" y="2793206"/>
            <a:ext cx="171831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250"/>
              <a:buFont typeface="Arial"/>
              <a:buNone/>
            </a:pPr>
            <a:r>
              <a:rPr b="1" i="0" lang="en-US" sz="82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Mastering Git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333500" y="3969544"/>
            <a:ext cx="17183100" cy="623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Gitをマスターする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333500" y="4898231"/>
            <a:ext cx="17183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Lecture + 3.5-hour hands-on workshop — everything you learn today, you will use today.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333500" y="5336381"/>
            <a:ext cx="17183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講義 + 3.5時間のハンズオン — 今日学ぶことは、今日すべて使う。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333500" y="6441281"/>
            <a:ext cx="5003750" cy="1714500"/>
          </a:xfrm>
          <a:prstGeom prst="roundRect">
            <a:avLst>
              <a:gd fmla="val 6667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647825" y="6755606"/>
            <a:ext cx="48126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Module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647825" y="7127081"/>
            <a:ext cx="48126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Git Internals &amp; Branching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647825" y="7527131"/>
            <a:ext cx="48126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内部構造とブランチ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642050" y="6441281"/>
            <a:ext cx="5003825" cy="1714500"/>
          </a:xfrm>
          <a:prstGeom prst="roundRect">
            <a:avLst>
              <a:gd fmla="val 6667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956375" y="6755606"/>
            <a:ext cx="48126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Module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956375" y="7127081"/>
            <a:ext cx="48126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Rewriting History Safely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956375" y="7527131"/>
            <a:ext cx="481269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履歴の安全な書き換え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1950675" y="6441281"/>
            <a:ext cx="5003825" cy="1714500"/>
          </a:xfrm>
          <a:prstGeom prst="roundRect">
            <a:avLst>
              <a:gd fmla="val 6667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12265000" y="6755606"/>
            <a:ext cx="48126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Module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2265000" y="7127081"/>
            <a:ext cx="48126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Automation &amp; Recovery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2265000" y="7527131"/>
            <a:ext cx="481269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自動化と復旧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1333500" y="952500"/>
            <a:ext cx="171831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What You'll Walk Away With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33500" y="1728788"/>
            <a:ext cx="171831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このコースで得られること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333500" y="2319338"/>
            <a:ext cx="1608963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Prerequisite: you've used git commit / push / pull / branch. That's enough. / 前提：commit / push / pull / branch を使ったことがあればOK。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33500" y="3519488"/>
            <a:ext cx="7696200" cy="1195388"/>
          </a:xfrm>
          <a:prstGeom prst="roundRect">
            <a:avLst>
              <a:gd fmla="val 9562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647825" y="3795713"/>
            <a:ext cx="487784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288009" y="3795713"/>
            <a:ext cx="69396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See what Git actually stores — no more black-box fear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288009" y="4148137"/>
            <a:ext cx="693962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Gitが実際に保存するものを理解し、ブラックボックスへの恐れをなくす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258300" y="3519488"/>
            <a:ext cx="7696200" cy="1195388"/>
          </a:xfrm>
          <a:prstGeom prst="roundRect">
            <a:avLst>
              <a:gd fmla="val 9562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9572625" y="3795713"/>
            <a:ext cx="487784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212809" y="3795713"/>
            <a:ext cx="622977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Clean up messy commits with interactive rebase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0212809" y="4148137"/>
            <a:ext cx="6229774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対話的リベースで雑なコミットを整理する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333500" y="4943475"/>
            <a:ext cx="7696200" cy="1509713"/>
          </a:xfrm>
          <a:prstGeom prst="roundRect">
            <a:avLst>
              <a:gd fmla="val 7571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1647825" y="5219700"/>
            <a:ext cx="487784" cy="9953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288009" y="5219700"/>
            <a:ext cx="662018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Resolve merge conflicts calmly — even self-made ones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288009" y="5886450"/>
            <a:ext cx="7070102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マージコンフリクトを落ち着いて解決する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258300" y="4943475"/>
            <a:ext cx="7696200" cy="1509713"/>
          </a:xfrm>
          <a:prstGeom prst="roundRect">
            <a:avLst>
              <a:gd fmla="val 7571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9572625" y="5219700"/>
            <a:ext cx="487784" cy="9953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0212809" y="5219700"/>
            <a:ext cx="445686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Automate quality gates with hooks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0212809" y="5572125"/>
            <a:ext cx="4456867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フックで品質チェックを自動化する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333500" y="6681788"/>
            <a:ext cx="15621000" cy="1195388"/>
          </a:xfrm>
          <a:prstGeom prst="roundRect">
            <a:avLst>
              <a:gd fmla="val 9562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647825" y="6958013"/>
            <a:ext cx="487784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288009" y="6958013"/>
            <a:ext cx="972017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Recover from any disaster — wrong reset, deleted branch, committed secret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2288009" y="7310438"/>
            <a:ext cx="972017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あらゆる失敗から復旧する — reset事故・ブランチ削除・シークレットのコミット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1333500" y="2189857"/>
            <a:ext cx="17183100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2000"/>
              <a:buFont typeface="Courier New"/>
              <a:buNone/>
            </a:pPr>
            <a:r>
              <a:rPr b="1" i="0" lang="en-US" sz="120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333500" y="4028182"/>
            <a:ext cx="16089630" cy="2049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5566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Git Internals &amp; Branching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333500" y="6192143"/>
            <a:ext cx="171831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Gitの内部構造とブランチ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333500" y="7254180"/>
            <a:ext cx="171831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What actually happens when you run </a:t>
            </a:r>
            <a:r>
              <a:rPr b="0" i="0" lang="en-US" sz="255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git commit</a:t>
            </a:r>
            <a:r>
              <a:rPr b="0" i="0" lang="en-US" sz="25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333500" y="7754243"/>
            <a:ext cx="17183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git commit を実行すると実際に何が起きているのか？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1714500" y="2655094"/>
            <a:ext cx="14859000" cy="1528763"/>
          </a:xfrm>
          <a:custGeom>
            <a:rect b="b" l="l" r="r" t="t"/>
            <a:pathLst>
              <a:path extrusionOk="0" h="1528763" w="14859000">
                <a:moveTo>
                  <a:pt x="0" y="0"/>
                </a:moveTo>
                <a:lnTo>
                  <a:pt x="14744700" y="0"/>
                </a:lnTo>
                <a:cubicBezTo>
                  <a:pt x="14775014" y="0"/>
                  <a:pt x="14804087" y="12042"/>
                  <a:pt x="14825522" y="33478"/>
                </a:cubicBezTo>
                <a:cubicBezTo>
                  <a:pt x="14846958" y="54913"/>
                  <a:pt x="14859000" y="83986"/>
                  <a:pt x="14859000" y="114300"/>
                </a:cubicBezTo>
                <a:lnTo>
                  <a:pt x="14859000" y="1414463"/>
                </a:lnTo>
                <a:cubicBezTo>
                  <a:pt x="14859000" y="1477589"/>
                  <a:pt x="14807826" y="1528763"/>
                  <a:pt x="14744700" y="1528763"/>
                </a:cubicBezTo>
                <a:lnTo>
                  <a:pt x="0" y="1528763"/>
                </a:lnTo>
                <a:lnTo>
                  <a:pt x="0" y="0"/>
                </a:lnTo>
                <a:close/>
              </a:path>
            </a:pathLst>
          </a:cu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714500" y="2655094"/>
            <a:ext cx="57150" cy="1528763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190750" y="2997994"/>
            <a:ext cx="1536001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"Why did Git create a merge commit when I just did a pull?"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190750" y="3498056"/>
            <a:ext cx="153600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「ただpullしただけなのに、なぜマージコミットが作られた？」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714500" y="4564856"/>
            <a:ext cx="14859000" cy="1528763"/>
          </a:xfrm>
          <a:custGeom>
            <a:rect b="b" l="l" r="r" t="t"/>
            <a:pathLst>
              <a:path extrusionOk="0" h="1528763" w="14859000">
                <a:moveTo>
                  <a:pt x="0" y="0"/>
                </a:moveTo>
                <a:lnTo>
                  <a:pt x="14744700" y="0"/>
                </a:lnTo>
                <a:cubicBezTo>
                  <a:pt x="14775014" y="0"/>
                  <a:pt x="14804087" y="12042"/>
                  <a:pt x="14825522" y="33478"/>
                </a:cubicBezTo>
                <a:cubicBezTo>
                  <a:pt x="14846958" y="54913"/>
                  <a:pt x="14859000" y="83986"/>
                  <a:pt x="14859000" y="114300"/>
                </a:cubicBezTo>
                <a:lnTo>
                  <a:pt x="14859000" y="1414463"/>
                </a:lnTo>
                <a:cubicBezTo>
                  <a:pt x="14859000" y="1477589"/>
                  <a:pt x="14807826" y="1528763"/>
                  <a:pt x="14744700" y="1528763"/>
                </a:cubicBezTo>
                <a:lnTo>
                  <a:pt x="0" y="1528763"/>
                </a:lnTo>
                <a:lnTo>
                  <a:pt x="0" y="0"/>
                </a:lnTo>
                <a:close/>
              </a:path>
            </a:pathLst>
          </a:cu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714500" y="4564856"/>
            <a:ext cx="57150" cy="1528763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2190750" y="4907756"/>
            <a:ext cx="1536001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"What even IS a detached HEAD state?"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2190750" y="5407819"/>
            <a:ext cx="153600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「デタッチドHEADとは一体何？」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714500" y="6703219"/>
            <a:ext cx="163449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These questions disappear once you see what's inside </a:t>
            </a:r>
            <a:r>
              <a:rPr b="1" i="0" lang="en-US" sz="30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.git/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714500" y="7260431"/>
            <a:ext cx="163449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.git/ の中身を見れば、これらの疑問は消える。箱を開けよう。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1333500" y="762000"/>
            <a:ext cx="17183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Open the Box — Follow Along </a:t>
            </a:r>
            <a:r>
              <a:rPr b="1" i="0" lang="en-US" sz="24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● LIVE DEMO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333500" y="1428750"/>
            <a:ext cx="171831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箱を開ける — 一緒に試そう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333500" y="2143125"/>
            <a:ext cx="15621000" cy="942975"/>
          </a:xfrm>
          <a:prstGeom prst="roundRect">
            <a:avLst>
              <a:gd fmla="val 10101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1609725" y="2462213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181225" y="2455069"/>
            <a:ext cx="982789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ls .git/ </a:t>
            </a: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→ HEAD config objects/ refs/ logs/ hooks/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1344275" y="2324100"/>
            <a:ext cx="549402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Every file Git uses to track your repo. / Gitが使う全ファイルが見える。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333500" y="3238500"/>
            <a:ext cx="15621000" cy="942975"/>
          </a:xfrm>
          <a:prstGeom prst="roundRect">
            <a:avLst>
              <a:gd fmla="val 10101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1609725" y="3557588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181225" y="3550444"/>
            <a:ext cx="982789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cat .git/HEAD </a:t>
            </a: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→ ref: refs/heads/main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1344275" y="3419475"/>
            <a:ext cx="549402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HEAD points to your current branch by name. / HEADは現在のブランチ名を指す。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333500" y="4333875"/>
            <a:ext cx="15621000" cy="942975"/>
          </a:xfrm>
          <a:prstGeom prst="roundRect">
            <a:avLst>
              <a:gd fmla="val 10101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609725" y="4652963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2181225" y="4645819"/>
            <a:ext cx="982789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checkout $(git rev-parse HEAD)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1344275" y="4514850"/>
            <a:ext cx="549402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Detach HEAD — point it straight at a commit. / HEADをデタッチ — コミットを直接指す。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333500" y="5429250"/>
            <a:ext cx="15621000" cy="942975"/>
          </a:xfrm>
          <a:prstGeom prst="roundRect">
            <a:avLst>
              <a:gd fmla="val 10101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1609725" y="5748338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2181225" y="5741194"/>
            <a:ext cx="982789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cat .git/HEAD </a:t>
            </a: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→ 99fe01f40044...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1344275" y="5610225"/>
            <a:ext cx="549402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No branch name — a raw SHA. THIS is detached HEAD. / ブランチ名なし、生のSHA。これがデタッチドHEAD。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333500" y="6524625"/>
            <a:ext cx="15621000" cy="681038"/>
          </a:xfrm>
          <a:prstGeom prst="roundRect">
            <a:avLst>
              <a:gd fmla="val 13986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1609725" y="6712744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181225" y="6705600"/>
            <a:ext cx="982789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checkout main </a:t>
            </a: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→ Switched to branch 'main'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1344275" y="6719888"/>
            <a:ext cx="58674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Back to normal. / 正常に戻る。HEADが再びmainを指す。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333500" y="7510462"/>
            <a:ext cx="15621000" cy="1038225"/>
          </a:xfrm>
          <a:prstGeom prst="roundRect">
            <a:avLst>
              <a:gd fmla="val 9174" name="adj"/>
            </a:avLst>
          </a:prstGeom>
          <a:solidFill>
            <a:srgbClr val="F0883E">
              <a:alpha val="10196"/>
            </a:srgbClr>
          </a:solidFill>
          <a:ln cap="flat" cmpd="sng" w="9525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609725" y="7710487"/>
            <a:ext cx="1657540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883E"/>
                </a:solidFill>
                <a:latin typeface="Arial"/>
                <a:ea typeface="Arial"/>
                <a:cs typeface="Arial"/>
                <a:sym typeface="Arial"/>
              </a:rPr>
              <a:t>Key point: </a:t>
            </a: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HEAD is one line of text in one file. Git is not magic — it's plain text.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609725" y="8058150"/>
            <a:ext cx="1657540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ポイント：HEADはただの1行のテキスト。Gitは魔法ではなく、プレーンテキスト。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HEAD — Where Are You Right Now?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HEAD — 今あなたはどこにいる？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333500" y="2352675"/>
            <a:ext cx="7620000" cy="7077075"/>
          </a:xfrm>
          <a:prstGeom prst="roundRect">
            <a:avLst>
              <a:gd fmla="val 1884" name="adj"/>
            </a:avLst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1733550" y="2752725"/>
            <a:ext cx="750189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NORMAL — attached / 通常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495726" y="3467100"/>
            <a:ext cx="1295549" cy="514350"/>
          </a:xfrm>
          <a:prstGeom prst="roundRect">
            <a:avLst>
              <a:gd fmla="val 14815" name="adj"/>
            </a:avLst>
          </a:prstGeom>
          <a:solidFill>
            <a:srgbClr val="2386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800526" y="3562350"/>
            <a:ext cx="76214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057775" y="4057650"/>
            <a:ext cx="247650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495726" y="4500563"/>
            <a:ext cx="1295549" cy="514350"/>
          </a:xfrm>
          <a:prstGeom prst="roundRect">
            <a:avLst>
              <a:gd fmla="val 14815" name="adj"/>
            </a:avLst>
          </a:prstGeom>
          <a:solidFill>
            <a:srgbClr val="1F6F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800526" y="4595813"/>
            <a:ext cx="76214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057775" y="5091113"/>
            <a:ext cx="247650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238625" y="5534025"/>
            <a:ext cx="1809750" cy="557213"/>
          </a:xfrm>
          <a:prstGeom prst="roundRect">
            <a:avLst>
              <a:gd fmla="val 13675" name="adj"/>
            </a:avLst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543425" y="5629275"/>
            <a:ext cx="1276350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99fe01f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733550" y="6434138"/>
            <a:ext cx="702449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$ cat .git/HEAD ref: refs/heads/main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733550" y="7253288"/>
            <a:ext cx="702449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HEAD → branch → commit. New commits move the branch forward. </a:t>
            </a:r>
            <a:r>
              <a:rPr b="1" i="0" lang="en-US" sz="195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Safe.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733550" y="7891463"/>
            <a:ext cx="750189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HEADはブランチを指す。新しいコミットでブランチが進む。安全。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9334500" y="2352675"/>
            <a:ext cx="7620000" cy="7077075"/>
          </a:xfrm>
          <a:prstGeom prst="roundRect">
            <a:avLst>
              <a:gd fmla="val 1884" name="adj"/>
            </a:avLst>
          </a:prstGeom>
          <a:solidFill>
            <a:srgbClr val="161B22"/>
          </a:solidFill>
          <a:ln cap="flat" cmpd="sng" w="1905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9734550" y="2752725"/>
            <a:ext cx="750189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DETACHED / デタッチド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2496726" y="3467100"/>
            <a:ext cx="1295549" cy="514350"/>
          </a:xfrm>
          <a:prstGeom prst="roundRect">
            <a:avLst>
              <a:gd fmla="val 14815" name="adj"/>
            </a:avLst>
          </a:prstGeom>
          <a:solidFill>
            <a:srgbClr val="DA3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2801526" y="3562350"/>
            <a:ext cx="76214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3058775" y="4057650"/>
            <a:ext cx="247650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1498535" y="4500563"/>
            <a:ext cx="362104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85149"/>
                </a:solidFill>
                <a:latin typeface="Courier New"/>
                <a:ea typeface="Courier New"/>
                <a:cs typeface="Courier New"/>
                <a:sym typeface="Courier New"/>
              </a:rPr>
              <a:t>(no branch / ブランチなし)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3058775" y="4919663"/>
            <a:ext cx="247650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2239625" y="5362575"/>
            <a:ext cx="1809750" cy="557213"/>
          </a:xfrm>
          <a:prstGeom prst="roundRect">
            <a:avLst>
              <a:gd fmla="val 13675" name="adj"/>
            </a:avLst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2544425" y="5457825"/>
            <a:ext cx="1276350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99fe01f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734550" y="6262688"/>
            <a:ext cx="702449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$ cat .git/HEAD 99fe01f400441c1232...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734550" y="7081838"/>
            <a:ext cx="750189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Commits here are </a:t>
            </a:r>
            <a:r>
              <a:rPr b="1" i="0" lang="en-US" sz="19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orphaned </a:t>
            </a: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— no branch moves forward.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9734550" y="7429500"/>
            <a:ext cx="750189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ここでのコミットは孤立する。対処法：</a:t>
            </a:r>
            <a:r>
              <a:rPr b="0" i="0" lang="en-US" sz="16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git checkout -b rescue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 Commit Is a Snapshot + a Pointer to Its Parent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コミット = スナップショット + 親へのポインタ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230487" y="2657475"/>
            <a:ext cx="4076700" cy="2307729"/>
          </a:xfrm>
          <a:prstGeom prst="roundRect">
            <a:avLst>
              <a:gd fmla="val 5778" name="adj"/>
            </a:avLst>
          </a:prstGeom>
          <a:solidFill>
            <a:srgbClr val="161B22"/>
          </a:solidFill>
          <a:ln cap="flat" cmpd="sng" w="1905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2554337" y="2943225"/>
            <a:ext cx="3771900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commit a1b2c3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554337" y="3338513"/>
            <a:ext cx="3531870" cy="1379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800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snapshot of ALL files author + date message </a:t>
            </a:r>
            <a:r>
              <a:rPr b="0" i="0" lang="en-US" sz="1650" u="none" cap="none" strike="noStrike">
                <a:solidFill>
                  <a:srgbClr val="58A6FF"/>
                </a:solidFill>
                <a:latin typeface="Arial"/>
                <a:ea typeface="Arial"/>
                <a:cs typeface="Arial"/>
                <a:sym typeface="Arial"/>
              </a:rPr>
              <a:t>parent: (none — first!)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497687" y="3542258"/>
            <a:ext cx="4973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58A6FF"/>
                </a:solidFill>
                <a:latin typeface="Arial"/>
                <a:ea typeface="Arial"/>
                <a:cs typeface="Arial"/>
                <a:sym typeface="Arial"/>
              </a:rPr>
              <a:t>←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105650" y="2657475"/>
            <a:ext cx="4076700" cy="2307729"/>
          </a:xfrm>
          <a:prstGeom prst="roundRect">
            <a:avLst>
              <a:gd fmla="val 5778" name="adj"/>
            </a:avLst>
          </a:prstGeom>
          <a:solidFill>
            <a:srgbClr val="161B22"/>
          </a:solidFill>
          <a:ln cap="flat" cmpd="sng" w="1905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429500" y="2943225"/>
            <a:ext cx="3771900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commit d4e5f6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429500" y="3338513"/>
            <a:ext cx="3531870" cy="1379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800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snapshot of ALL files author + date message </a:t>
            </a:r>
            <a:r>
              <a:rPr b="0" i="0" lang="en-US" sz="1650" u="none" cap="none" strike="noStrike">
                <a:solidFill>
                  <a:srgbClr val="58A6FF"/>
                </a:solidFill>
                <a:latin typeface="Arial"/>
                <a:ea typeface="Arial"/>
                <a:cs typeface="Arial"/>
                <a:sym typeface="Arial"/>
              </a:rPr>
              <a:t>parent: a1b2c3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1372850" y="3542258"/>
            <a:ext cx="4973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58A6FF"/>
                </a:solidFill>
                <a:latin typeface="Arial"/>
                <a:ea typeface="Arial"/>
                <a:cs typeface="Arial"/>
                <a:sym typeface="Arial"/>
              </a:rPr>
              <a:t>←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1980813" y="2657475"/>
            <a:ext cx="4076700" cy="2307729"/>
          </a:xfrm>
          <a:prstGeom prst="roundRect">
            <a:avLst>
              <a:gd fmla="val 5778" name="adj"/>
            </a:avLst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12304663" y="2943225"/>
            <a:ext cx="3771900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commit 99fe01f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2304663" y="3338513"/>
            <a:ext cx="3531870" cy="1379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800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snapshot of ALL files author + date message </a:t>
            </a:r>
            <a:r>
              <a:rPr b="0" i="0" lang="en-US" sz="1650" u="none" cap="none" strike="noStrike">
                <a:solidFill>
                  <a:srgbClr val="58A6FF"/>
                </a:solidFill>
                <a:latin typeface="Arial"/>
                <a:ea typeface="Arial"/>
                <a:cs typeface="Arial"/>
                <a:sym typeface="Arial"/>
              </a:rPr>
              <a:t>parent: d4e5f6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3036042" y="1952625"/>
            <a:ext cx="1966243" cy="371475"/>
          </a:xfrm>
          <a:prstGeom prst="roundRect">
            <a:avLst>
              <a:gd fmla="val 20513" name="adj"/>
            </a:avLst>
          </a:prstGeom>
          <a:solidFill>
            <a:srgbClr val="1F6F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13264642" y="2009775"/>
            <a:ext cx="158524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main ← HEAD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3913160" y="2324100"/>
            <a:ext cx="2882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333500" y="5917704"/>
            <a:ext cx="5054575" cy="1647825"/>
          </a:xfrm>
          <a:prstGeom prst="roundRect">
            <a:avLst>
              <a:gd fmla="val 578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1609725" y="6155829"/>
            <a:ext cx="4637189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History = a chain of snapshots, each pointing back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609725" y="6774954"/>
            <a:ext cx="49523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履歴 = 後ろを指すスナップショットの連鎖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616675" y="5917704"/>
            <a:ext cx="5054650" cy="1647825"/>
          </a:xfrm>
          <a:prstGeom prst="roundRect">
            <a:avLst>
              <a:gd fmla="val 578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6892900" y="6155829"/>
            <a:ext cx="4637266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"Rewriting history" = building a NEW chain (Module 2)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892900" y="6774954"/>
            <a:ext cx="4637266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「履歴の書き換え」= 新しい連鎖を作ること（モジュール2）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1899925" y="5917704"/>
            <a:ext cx="5054575" cy="1647825"/>
          </a:xfrm>
          <a:prstGeom prst="roundRect">
            <a:avLst>
              <a:gd fmla="val 578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12176150" y="6155829"/>
            <a:ext cx="4637189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Old commits are kept — that's why recovery works (Module 3)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2176150" y="6774954"/>
            <a:ext cx="4637189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古いコミットは残る — だから復旧できる（モジュール3）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 Branch Is Just a 41-Byte Text File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ブランチはただの41バイトのテキストファイル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333500" y="2428875"/>
            <a:ext cx="7928297" cy="1390650"/>
          </a:xfrm>
          <a:prstGeom prst="roundRect">
            <a:avLst>
              <a:gd fmla="val 8219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1647825" y="2743200"/>
            <a:ext cx="802961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cat .git/refs/heads/main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647825" y="3162300"/>
            <a:ext cx="802961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a3f9d82c71b4e6f01234...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89975" y="4278329"/>
            <a:ext cx="2904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575" lIns="31575" spcFirstLastPara="1" rIns="31575" wrap="square" tIns="31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611"/>
              <a:buFont typeface="Arial"/>
              <a:buNone/>
            </a:pPr>
            <a:r>
              <a:rPr b="1" i="0" lang="en-US" sz="2611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Create a branch?</a:t>
            </a:r>
            <a:endParaRPr b="0" i="0" sz="26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319626" y="4278329"/>
            <a:ext cx="2617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611"/>
              <a:buFont typeface="Arial"/>
              <a:buNone/>
            </a:pPr>
            <a:r>
              <a:rPr b="0" i="0" lang="en-US" sz="2611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Git writes one file.</a:t>
            </a:r>
            <a:endParaRPr b="0" i="0" sz="26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031768" y="4278329"/>
            <a:ext cx="3305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575" lIns="31575" spcFirstLastPara="1" rIns="31575" wrap="square" tIns="31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45"/>
              <a:buFont typeface="Arial"/>
              <a:buNone/>
            </a:pPr>
            <a:r>
              <a:rPr b="0" i="0" lang="en-US" sz="214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作成 → ファイルを</a:t>
            </a:r>
            <a:endParaRPr b="0" i="0" sz="2145" u="none" cap="none" strike="noStrike">
              <a:solidFill>
                <a:srgbClr val="9198A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45"/>
              <a:buFont typeface="Arial"/>
              <a:buNone/>
            </a:pPr>
            <a:r>
              <a:rPr b="0" i="0" lang="en-US" sz="214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1つ書く</a:t>
            </a:r>
            <a:endParaRPr b="0" i="0" sz="21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89975" y="5349256"/>
            <a:ext cx="15738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800" lIns="38800" spcFirstLastPara="1" rIns="38800" wrap="square" tIns="388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3207"/>
              <a:buFont typeface="Arial"/>
              <a:buNone/>
            </a:pPr>
            <a:r>
              <a:rPr b="1" i="0" lang="en-US" sz="3207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Delete?</a:t>
            </a:r>
            <a:endParaRPr b="0" i="0" sz="32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672851" y="5365750"/>
            <a:ext cx="4137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207"/>
              <a:buFont typeface="Arial"/>
              <a:buNone/>
            </a:pPr>
            <a:r>
              <a:rPr b="0" i="0" lang="en-US" sz="3207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Git deletes one file.</a:t>
            </a:r>
            <a:endParaRPr b="0" i="0" sz="32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727700" y="5365750"/>
            <a:ext cx="25341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800" lIns="38800" spcFirstLastPara="1" rIns="38800" wrap="square" tIns="388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635"/>
              <a:buFont typeface="Arial"/>
              <a:buNone/>
            </a:pPr>
            <a:r>
              <a:rPr b="0" i="0" lang="en-US" sz="263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削除 → 1つ消す</a:t>
            </a:r>
            <a:endParaRPr b="0" i="0" sz="26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89975" y="6230500"/>
            <a:ext cx="21051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550" lIns="31550" spcFirstLastPara="1" rIns="31550" wrap="square" tIns="315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610"/>
              <a:buFont typeface="Arial"/>
              <a:buNone/>
            </a:pPr>
            <a:r>
              <a:rPr b="1" i="0" lang="en-US" sz="2610" u="none" cap="none" strike="noStrike">
                <a:solidFill>
                  <a:srgbClr val="58A6FF"/>
                </a:solidFill>
                <a:latin typeface="Arial"/>
                <a:ea typeface="Arial"/>
                <a:cs typeface="Arial"/>
                <a:sym typeface="Arial"/>
              </a:rPr>
              <a:t>Rename?</a:t>
            </a:r>
            <a:endParaRPr b="0" i="0" sz="2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579824" y="6230500"/>
            <a:ext cx="2856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610"/>
              <a:buFont typeface="Arial"/>
              <a:buNone/>
            </a:pPr>
            <a:r>
              <a:rPr b="0" i="0" lang="en-US" sz="261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Rename the file.</a:t>
            </a:r>
            <a:endParaRPr b="0" i="0" sz="2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374226" y="6230500"/>
            <a:ext cx="46317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1550" lIns="31550" spcFirstLastPara="1" rIns="31550" wrap="square" tIns="315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44"/>
              <a:buFont typeface="Arial"/>
              <a:buNone/>
            </a:pPr>
            <a:r>
              <a:rPr b="0" i="0" lang="en-US" sz="2144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名前変更 → ファイル名を変える</a:t>
            </a:r>
            <a:endParaRPr b="0" i="0" sz="21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333500" y="7726680"/>
            <a:ext cx="7928400" cy="1290600"/>
          </a:xfrm>
          <a:prstGeom prst="roundRect">
            <a:avLst>
              <a:gd fmla="val 7380" name="adj"/>
            </a:avLst>
          </a:prstGeom>
          <a:solidFill>
            <a:srgbClr val="3FB950">
              <a:alpha val="10196"/>
            </a:srgbClr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1609725" y="7926705"/>
            <a:ext cx="76137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This is why branching in Git is instant and free — use branches generously. </a:t>
            </a: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だからGitのブランチは一瞬で無料。遠慮なく使おう。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642800" y="2428875"/>
            <a:ext cx="7311600" cy="6068100"/>
          </a:xfrm>
          <a:prstGeom prst="roundRect">
            <a:avLst>
              <a:gd fmla="val 2477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9995222" y="2781300"/>
            <a:ext cx="726753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0883E"/>
                </a:solidFill>
                <a:latin typeface="Arial"/>
                <a:ea typeface="Arial"/>
                <a:cs typeface="Arial"/>
                <a:sym typeface="Arial"/>
              </a:rPr>
              <a:t>The full picture / 全体像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995222" y="3448050"/>
            <a:ext cx="680505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84211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238636"/>
                </a:solidFill>
                <a:latin typeface="Courier New"/>
                <a:ea typeface="Courier New"/>
                <a:cs typeface="Courier New"/>
                <a:sym typeface="Courier New"/>
              </a:rPr>
              <a:t>HEAD </a:t>
            </a:r>
            <a:r>
              <a:rPr b="0" i="0" lang="en-US" sz="187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→ file saying "main"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9995222" y="3971925"/>
            <a:ext cx="680505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84211"/>
              </a:lnSpc>
              <a:spcBef>
                <a:spcPts val="0"/>
              </a:spcBef>
              <a:spcAft>
                <a:spcPts val="0"/>
              </a:spcAft>
              <a:buClr>
                <a:srgbClr val="1F6FEB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1F6FEB"/>
                </a:solidFill>
                <a:latin typeface="Courier New"/>
                <a:ea typeface="Courier New"/>
                <a:cs typeface="Courier New"/>
                <a:sym typeface="Courier New"/>
              </a:rPr>
              <a:t>main </a:t>
            </a:r>
            <a:r>
              <a:rPr b="0" i="0" lang="en-US" sz="187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→ file saying "a3f9d82"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9995222" y="4495800"/>
            <a:ext cx="680505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84211"/>
              </a:lnSpc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a3f9d82 </a:t>
            </a:r>
            <a:r>
              <a:rPr b="0" i="0" lang="en-US" sz="187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→ commit object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9995222" y="5286375"/>
            <a:ext cx="7267538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Three tiny pointers. That's the whole system.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9995222" y="5634038"/>
            <a:ext cx="7267538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3つの小さなポインタ。それがGitの全システム。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Branching Strategy: Start Simple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ブランチ戦略：シンプルに始める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1333500" y="2352675"/>
            <a:ext cx="7629525" cy="7077075"/>
          </a:xfrm>
          <a:prstGeom prst="roundRect">
            <a:avLst>
              <a:gd fmla="val 1884" name="adj"/>
            </a:avLst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1733550" y="2752725"/>
            <a:ext cx="7512367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GitHub Flow — today's workshop / 今日はこれ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3550" y="3481388"/>
            <a:ext cx="6829425" cy="213419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/>
          <p:nvPr/>
        </p:nvSpPr>
        <p:spPr>
          <a:xfrm>
            <a:off x="1733550" y="5877520"/>
            <a:ext cx="7034308" cy="8800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7333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1. Branch off </a:t>
            </a:r>
            <a:r>
              <a:rPr b="0" i="0" lang="en-US" sz="19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main </a:t>
            </a: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→ 2. commit → 3. open Pull Request → 4. review → 5. merge.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1733550" y="6795641"/>
            <a:ext cx="7512367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mainから分岐 → コミット → PR作成 → レビュー → マージ。それだけ。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9344025" y="2352675"/>
            <a:ext cx="7610475" cy="7077075"/>
          </a:xfrm>
          <a:prstGeom prst="roundRect">
            <a:avLst>
              <a:gd fmla="val 1884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9734550" y="2743200"/>
            <a:ext cx="7512367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GitFlow — the heavyweight option / 重量級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9734550" y="3395663"/>
            <a:ext cx="7034308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Adds </a:t>
            </a: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develop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release/*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hotfix/*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branches. Used for versioned, scheduled releases (mobile apps, installed software).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9734550" y="4062412"/>
            <a:ext cx="703430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develop・release・hotfixブランチを追加。バージョン付きリリース向け（モバイルアプリ等）。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9734550" y="4919663"/>
            <a:ext cx="6829425" cy="823913"/>
          </a:xfrm>
          <a:prstGeom prst="roundRect">
            <a:avLst>
              <a:gd fmla="val 924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9925050" y="5067300"/>
            <a:ext cx="31300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Rule 1: never commit directly 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3014573" y="5053013"/>
            <a:ext cx="6248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3613904" y="5067300"/>
            <a:ext cx="27481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13863191" y="5053013"/>
            <a:ext cx="10363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develop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9925050" y="5348288"/>
            <a:ext cx="7093268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mainとdevelopに直接コミットしない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9734550" y="5876925"/>
            <a:ext cx="6829425" cy="823913"/>
          </a:xfrm>
          <a:prstGeom prst="roundRect">
            <a:avLst>
              <a:gd fmla="val 924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9925050" y="6024563"/>
            <a:ext cx="415922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Rule 2: features branch from + merge into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4013805" y="6010275"/>
            <a:ext cx="10363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develop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9925050" y="6305550"/>
            <a:ext cx="7093268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featureはdevelopから分岐しdevelopへ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9734550" y="6834188"/>
            <a:ext cx="6829425" cy="823913"/>
          </a:xfrm>
          <a:prstGeom prst="roundRect">
            <a:avLst>
              <a:gd fmla="val 924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9925050" y="6981825"/>
            <a:ext cx="338172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Rule 3: releases merge into BOTH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3258949" y="6967538"/>
            <a:ext cx="6248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3858280" y="6981825"/>
            <a:ext cx="44700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4279761" y="6967538"/>
            <a:ext cx="10363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develop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9925050" y="7262813"/>
            <a:ext cx="7093268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releaseはmainとdevelop両方にマージ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9734550" y="7886700"/>
            <a:ext cx="751236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7778"/>
              </a:lnSpc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0883E"/>
                </a:solidFill>
                <a:latin typeface="Arial"/>
                <a:ea typeface="Arial"/>
                <a:cs typeface="Arial"/>
                <a:sym typeface="Arial"/>
              </a:rPr>
              <a:t>Takeaway: pick the simplest strategy your release process allows.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9734550" y="8272463"/>
            <a:ext cx="7512367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558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結論：リリース工程が許す最もシンプルな戦略を選ぶ。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/>
          <p:nvPr/>
        </p:nvSpPr>
        <p:spPr>
          <a:xfrm>
            <a:off x="1333500" y="2211288"/>
            <a:ext cx="17183100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2000"/>
              <a:buFont typeface="Courier New"/>
              <a:buNone/>
            </a:pPr>
            <a:r>
              <a:rPr b="1" i="0" lang="en-US" sz="120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1333500" y="4049613"/>
            <a:ext cx="16089630" cy="2049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5566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Rewriting History Safely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1333500" y="6213574"/>
            <a:ext cx="171831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履歴を安全に書き換える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1333500" y="7275612"/>
            <a:ext cx="17183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8A6FF"/>
                </a:solidFill>
                <a:latin typeface="Arial"/>
                <a:ea typeface="Arial"/>
                <a:cs typeface="Arial"/>
                <a:sym typeface="Arial"/>
              </a:rPr>
              <a:t>Interactive rebase · cherry-pick — and one Golden Rule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1333500" y="7732812"/>
            <a:ext cx="17183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対話的リベース・cherry-pick、そしてゴールデンルール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The Problem: History That Tells No Story </a:t>
            </a:r>
            <a:r>
              <a:rPr b="1" i="0" lang="en-US" sz="2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● LIVE DEMO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問題：意味を伝えないコミット履歴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333500" y="2428875"/>
            <a:ext cx="6852270" cy="4667250"/>
          </a:xfrm>
          <a:prstGeom prst="roundRect">
            <a:avLst>
              <a:gd fmla="val 2449" name="adj"/>
            </a:avLst>
          </a:prstGeom>
          <a:solidFill>
            <a:srgbClr val="161B22"/>
          </a:solidFill>
          <a:ln cap="flat" cmpd="sng" w="9525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1647825" y="2743200"/>
            <a:ext cx="6410329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4545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Before / レビュー前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1647825" y="3314700"/>
            <a:ext cx="641032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f3a2b1 </a:t>
            </a:r>
            <a:r>
              <a:rPr b="0" i="0" lang="en-US" sz="1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fix login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647825" y="3810000"/>
            <a:ext cx="641032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9c8d7e </a:t>
            </a:r>
            <a:r>
              <a:rPr b="0" i="0" lang="en-US" sz="1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WIP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1647825" y="4305300"/>
            <a:ext cx="641032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6f5e4d </a:t>
            </a:r>
            <a:r>
              <a:rPr b="0" i="0" lang="en-US" sz="1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actually fix login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1647825" y="4800600"/>
            <a:ext cx="641032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3b2a1f </a:t>
            </a:r>
            <a:r>
              <a:rPr b="0" i="0" lang="en-US" sz="1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typo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647825" y="5295900"/>
            <a:ext cx="641032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0e9d8c </a:t>
            </a:r>
            <a:r>
              <a:rPr b="0" i="0" lang="en-US" sz="1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asdfg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647825" y="5791200"/>
            <a:ext cx="641032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1a2b3c </a:t>
            </a:r>
            <a:r>
              <a:rPr b="0" i="0" lang="en-US" sz="1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PLEASE WORK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1647825" y="6286500"/>
            <a:ext cx="641032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4d5e6f </a:t>
            </a:r>
            <a:r>
              <a:rPr b="0" i="0" lang="en-US" sz="1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ok for real this time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8477615" y="4279106"/>
            <a:ext cx="1961421" cy="709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F0883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8477615" y="4950619"/>
            <a:ext cx="196142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git rebase -i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0730880" y="2909888"/>
            <a:ext cx="6223620" cy="1724025"/>
          </a:xfrm>
          <a:prstGeom prst="roundRect">
            <a:avLst>
              <a:gd fmla="val 6630" name="adj"/>
            </a:avLst>
          </a:prstGeom>
          <a:solidFill>
            <a:srgbClr val="161B22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11045205" y="3224213"/>
            <a:ext cx="615446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After / リベース後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1045205" y="3681413"/>
            <a:ext cx="5762819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a1b2c3 </a:t>
            </a:r>
            <a:r>
              <a:rPr b="0" i="0" lang="en-US" sz="19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feat: fix login authentication flow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0730880" y="4900613"/>
            <a:ext cx="641032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172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Reviewer sees intent, not your debug trail </a:t>
            </a:r>
            <a:r>
              <a:rPr b="0" i="0" lang="en-US" sz="15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/ レビュアーは意図を見る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0730880" y="5757863"/>
            <a:ext cx="6410329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172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git log </a:t>
            </a: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becomes searchable </a:t>
            </a:r>
            <a:r>
              <a:rPr b="0" i="0" lang="en-US" sz="15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/ ログが検索可能に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0730880" y="6186488"/>
            <a:ext cx="6410329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172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git revert </a:t>
            </a: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undoes one logical unit </a:t>
            </a:r>
            <a:r>
              <a:rPr b="0" i="0" lang="en-US" sz="15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/ 論理単位で取り消せる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52450" y="7553325"/>
            <a:ext cx="171831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0883E"/>
                </a:solidFill>
                <a:latin typeface="Arial"/>
                <a:ea typeface="Arial"/>
                <a:cs typeface="Arial"/>
                <a:sym typeface="Arial"/>
              </a:rPr>
              <a:t>One commit. One intent. One review. </a:t>
            </a:r>
            <a:r>
              <a:rPr b="0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／ 1コミット。1つの意図。1回のレビュー。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/>
          <p:nvPr/>
        </p:nvSpPr>
        <p:spPr>
          <a:xfrm>
            <a:off x="1333500" y="857250"/>
            <a:ext cx="1608963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Interactive Rebase: 4 Everyday Actions + 1 Dangerous One </a:t>
            </a:r>
            <a:r>
              <a:rPr b="1" i="0" lang="en-US" sz="2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● LIVE DEMO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1333500" y="2152650"/>
            <a:ext cx="171831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対話的リベース：日常で使う4つ + 危険な1つ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1333500" y="2790825"/>
            <a:ext cx="171831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rebase -i HEAD~3 </a:t>
            </a:r>
            <a:r>
              <a:rPr b="0" i="0" lang="en-US" sz="2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rewrite the last 3 commits / 直近3コミットを書き換え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1333500" y="3495675"/>
            <a:ext cx="15621000" cy="723900"/>
          </a:xfrm>
          <a:prstGeom prst="roundRect">
            <a:avLst>
              <a:gd fmla="val 13158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1647825" y="3695700"/>
            <a:ext cx="1885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pick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3629025" y="3698081"/>
            <a:ext cx="1431226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Keep the commit as-is </a:t>
            </a: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／ そのまま使う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1333500" y="4371975"/>
            <a:ext cx="15621000" cy="723900"/>
          </a:xfrm>
          <a:prstGeom prst="roundRect">
            <a:avLst>
              <a:gd fmla="val 13158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1647825" y="4572000"/>
            <a:ext cx="1885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reword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3629025" y="4574381"/>
            <a:ext cx="1431226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Keep it, but fix the message </a:t>
            </a: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／ メッセージだけ直す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1333500" y="5248275"/>
            <a:ext cx="15621000" cy="723900"/>
          </a:xfrm>
          <a:prstGeom prst="roundRect">
            <a:avLst>
              <a:gd fmla="val 13158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1647825" y="5448300"/>
            <a:ext cx="1885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squash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3629025" y="5450681"/>
            <a:ext cx="1431226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Melt into the commit ABOVE it — messages combine </a:t>
            </a: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／ 上のコミットに統合（メッセージ結合）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1333500" y="6124575"/>
            <a:ext cx="15621000" cy="723900"/>
          </a:xfrm>
          <a:prstGeom prst="roundRect">
            <a:avLst>
              <a:gd fmla="val 13158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1647825" y="6324600"/>
            <a:ext cx="1885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fixup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3629025" y="6326981"/>
            <a:ext cx="1431226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Same as squash, but throw this message away </a:t>
            </a: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／ squashと同じ、メッセージは破棄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1333500" y="7000875"/>
            <a:ext cx="15621000" cy="723900"/>
          </a:xfrm>
          <a:prstGeom prst="roundRect">
            <a:avLst>
              <a:gd fmla="val 13158" name="adj"/>
            </a:avLst>
          </a:prstGeom>
          <a:solidFill>
            <a:srgbClr val="161B22">
              <a:alpha val="65098"/>
            </a:srgbClr>
          </a:solidFill>
          <a:ln cap="flat" cmpd="sng" w="9525">
            <a:solidFill>
              <a:srgbClr val="30363D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1647825" y="7200900"/>
            <a:ext cx="1885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85149"/>
                </a:solidFill>
                <a:latin typeface="Courier New"/>
                <a:ea typeface="Courier New"/>
                <a:cs typeface="Courier New"/>
                <a:sym typeface="Courier New"/>
              </a:rPr>
              <a:t>drop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3629025" y="7203281"/>
            <a:ext cx="1431226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Delete the commit entirely — careful </a:t>
            </a: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／ コミットを完全に削除 — 注意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1333500" y="8067675"/>
            <a:ext cx="15621000" cy="1209675"/>
          </a:xfrm>
          <a:prstGeom prst="roundRect">
            <a:avLst>
              <a:gd fmla="val 9449" name="adj"/>
            </a:avLst>
          </a:prstGeom>
          <a:solidFill>
            <a:srgbClr val="F85149">
              <a:alpha val="12157"/>
            </a:srgbClr>
          </a:solidFill>
          <a:ln cap="flat" cmpd="sng" w="1905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1657350" y="8315325"/>
            <a:ext cx="164706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⚑ Golden Rule: NEVER rebase commits already pushed to a shared branch.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1657350" y="8715375"/>
            <a:ext cx="1647063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ゴールデンルール：共有ブランチにプッシュ済みのコミットは絶対にリベースしない。自分だけのブランチならOK。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Cherry-Pick &amp; Stash: Surgical Tools </a:t>
            </a:r>
            <a:r>
              <a:rPr b="1" i="0" lang="en-US" sz="2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● LIVE DEMO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Cherry-PickとStash：外科的ツール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1333500" y="2352675"/>
            <a:ext cx="7620000" cy="7077075"/>
          </a:xfrm>
          <a:prstGeom prst="roundRect">
            <a:avLst>
              <a:gd fmla="val 1615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1685925" y="2705100"/>
            <a:ext cx="76066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git cherry-pick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1685925" y="3200400"/>
            <a:ext cx="760666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Copy ONE specific commit from any branch onto this one.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1685925" y="3548063"/>
            <a:ext cx="760666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任意のブランチから特定のコミットだけをコピーして適用。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1685925" y="4067175"/>
            <a:ext cx="7122605" cy="12724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7091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· Backport a security fix to an old release · Your hotfix landed on the wrong branch </a:t>
            </a:r>
            <a:r>
              <a:rPr b="0" i="0" lang="en-US" sz="15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古いリリースへの修正バックポート／誤ブランチのhotfix救出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1685925" y="5530081"/>
            <a:ext cx="6915150" cy="1683841"/>
          </a:xfrm>
          <a:prstGeom prst="roundRect">
            <a:avLst>
              <a:gd fmla="val 4525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1914525" y="5720581"/>
            <a:ext cx="6651689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889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cherry-pick abc1234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1914525" y="6154862"/>
            <a:ext cx="6651689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889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cherry-pick abc..def </a:t>
            </a:r>
            <a:r>
              <a:rPr b="0" i="0" lang="en-US" sz="18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range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1914525" y="6589142"/>
            <a:ext cx="6651689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889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cherry-pick -n abc1234 </a:t>
            </a:r>
            <a:r>
              <a:rPr b="0" i="0" lang="en-US" sz="18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stage only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9334500" y="2352675"/>
            <a:ext cx="7620000" cy="7077075"/>
          </a:xfrm>
          <a:prstGeom prst="roundRect">
            <a:avLst>
              <a:gd fmla="val 1615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9686925" y="2705100"/>
            <a:ext cx="76066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git stash — done right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9686925" y="3200400"/>
            <a:ext cx="760666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Most people only know push/pop. You're missing: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9686925" y="3548063"/>
            <a:ext cx="760666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多くの人はstash/popしか知らない。知らないと損な機能：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9686925" y="4067175"/>
            <a:ext cx="6915150" cy="2552402"/>
          </a:xfrm>
          <a:prstGeom prst="roundRect">
            <a:avLst>
              <a:gd fmla="val 2985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9915525" y="4257675"/>
            <a:ext cx="6651689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889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stash push -m "auth WIP" </a:t>
            </a:r>
            <a:r>
              <a:rPr b="0" i="0" lang="en-US" sz="18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name it!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9915525" y="4691955"/>
            <a:ext cx="6651689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889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stash -u </a:t>
            </a:r>
            <a:r>
              <a:rPr b="0" i="0" lang="en-US" sz="18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include untracked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9915525" y="5126236"/>
            <a:ext cx="6651689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889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stash list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9915525" y="5560516"/>
            <a:ext cx="6651689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889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stash apply stash@{2} </a:t>
            </a:r>
            <a:r>
              <a:rPr b="0" i="0" lang="en-US" sz="18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specific 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9915525" y="5994797"/>
            <a:ext cx="6651689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889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stash push src/auth.py </a:t>
            </a:r>
            <a:r>
              <a:rPr b="0" i="0" lang="en-US" sz="18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one file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9686925" y="6810077"/>
            <a:ext cx="712260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名前を付ける／未追跡ファイルも含める／特定のstashだけ適用／1ファイルだけstash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"/>
          <p:cNvSpPr/>
          <p:nvPr/>
        </p:nvSpPr>
        <p:spPr>
          <a:xfrm>
            <a:off x="1333500" y="666750"/>
            <a:ext cx="9651087" cy="709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Exercise 1 — Build Your Own Repo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10412016" y="928688"/>
            <a:ext cx="1697355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1.5 hours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1333500" y="1376363"/>
            <a:ext cx="17183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演習1 — 自分のリポジトリを作る（1.5時間）· 手順は EXERCISE1.txt · 証拠はすべて README.md に書く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1333500" y="2024062"/>
            <a:ext cx="7677150" cy="2089100"/>
          </a:xfrm>
          <a:prstGeom prst="roundRect">
            <a:avLst>
              <a:gd fmla="val 4559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1642100" y="2356475"/>
            <a:ext cx="67314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1 — Create a PUBLIC repo git-practice-&lt;username&gt;, clone 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1642098" y="3228144"/>
            <a:ext cx="76773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5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</a:rPr>
              <a:t>公開リポジトリを作成してクローン</a:t>
            </a:r>
            <a:endParaRPr b="1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9277350" y="2024062"/>
            <a:ext cx="7677150" cy="2089100"/>
          </a:xfrm>
          <a:prstGeom prst="roundRect">
            <a:avLst>
              <a:gd fmla="val 4559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9553575" y="2183198"/>
            <a:ext cx="74010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2 — Internals hunt: answer 6 questions in README.md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9553575" y="2861444"/>
            <a:ext cx="7111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5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</a:rPr>
              <a:t>.git/ 探検：6つの質問にREADMEで回答</a:t>
            </a:r>
            <a:endParaRPr b="1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1333500" y="4265563"/>
            <a:ext cx="7677150" cy="2089175"/>
          </a:xfrm>
          <a:prstGeom prst="roundRect">
            <a:avLst>
              <a:gd fmla="val 4559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2264150" y="4705571"/>
            <a:ext cx="72363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3 — Branch + 3 conventional commits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2264150" y="5338776"/>
            <a:ext cx="6433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5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</a:rPr>
              <a:t>ブランチ + 規約形式コミット3つ</a:t>
            </a:r>
            <a:endParaRPr b="1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9277350" y="4265563"/>
            <a:ext cx="7677150" cy="2089175"/>
          </a:xfrm>
          <a:prstGeom prst="roundRect">
            <a:avLst>
              <a:gd fmla="val 4559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9677775" y="4643451"/>
            <a:ext cx="67314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4 — Make 3 messy commits → rebase -i → squash to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10231900" y="5471657"/>
            <a:ext cx="6433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5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</a:rPr>
              <a:t>雑なコミット3つ → rebase -i で1つに</a:t>
            </a:r>
            <a:endParaRPr b="1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1333500" y="6507138"/>
            <a:ext cx="7677150" cy="1798662"/>
          </a:xfrm>
          <a:prstGeom prst="roundRect">
            <a:avLst>
              <a:gd fmla="val 5296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1642100" y="6941332"/>
            <a:ext cx="6433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 — Create your own merge conflict → resolve it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2063100" y="7413619"/>
            <a:ext cx="6433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5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</a:rPr>
              <a:t>自分でコンフリクトを起こして解決</a:t>
            </a:r>
            <a:endParaRPr b="1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9277350" y="6507138"/>
            <a:ext cx="7677150" cy="1798662"/>
          </a:xfrm>
          <a:prstGeom prst="roundRect">
            <a:avLst>
              <a:gd fmla="val 5296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9826901" y="6723421"/>
            <a:ext cx="69408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6 — Cherry-pick from a side branch + named stash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9892738" y="7413619"/>
            <a:ext cx="6433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5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</a:rPr>
              <a:t>サイドブランチからcherry-pick + 名前付きstash</a:t>
            </a:r>
            <a:endParaRPr b="1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1333500" y="8572500"/>
            <a:ext cx="15621000" cy="1047750"/>
          </a:xfrm>
          <a:prstGeom prst="roundRect">
            <a:avLst>
              <a:gd fmla="val 9091" name="adj"/>
            </a:avLst>
          </a:prstGeom>
          <a:solidFill>
            <a:srgbClr val="3FB950">
              <a:alpha val="10196"/>
            </a:srgbClr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1609725" y="8772525"/>
            <a:ext cx="155371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Submit: push everything, then send me your repo URL. </a:t>
            </a: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提出：全部プッシュして、リポジトリのURLを先生に送る。README.mdがあなたの成績です。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5"/>
          <p:cNvSpPr/>
          <p:nvPr/>
        </p:nvSpPr>
        <p:spPr>
          <a:xfrm>
            <a:off x="1333500" y="2211288"/>
            <a:ext cx="17183100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2000"/>
              <a:buFont typeface="Courier New"/>
              <a:buNone/>
            </a:pPr>
            <a:r>
              <a:rPr b="1" i="0" lang="en-US" sz="120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1333500" y="4049613"/>
            <a:ext cx="16089630" cy="2049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5566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Automation &amp; Disaster Recovery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1333500" y="6213574"/>
            <a:ext cx="171831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自動化と障害復旧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1333500" y="7275612"/>
            <a:ext cx="17183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8A6FF"/>
                </a:solidFill>
                <a:latin typeface="Arial"/>
                <a:ea typeface="Arial"/>
                <a:cs typeface="Arial"/>
                <a:sym typeface="Arial"/>
              </a:rPr>
              <a:t>Hooks, worktrees, reflog — and the 'Oh No' playbook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1333500" y="7732812"/>
            <a:ext cx="17183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フック・ワークツリー・reflog・「やばい！」対処集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Git Hooks: Quality Gates That Run Themselves </a:t>
            </a:r>
            <a:r>
              <a:rPr b="1" i="0" lang="en-US" sz="2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● LIVE DEMO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Gitフック：自動実行される品質ゲート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1333500" y="2085975"/>
            <a:ext cx="17183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Scripts in </a:t>
            </a:r>
            <a:r>
              <a:rPr b="0" i="0" lang="en-US" sz="195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.git/hooks/ </a:t>
            </a:r>
            <a:r>
              <a:rPr b="0" i="0" lang="en-US" sz="19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that fire on Git events. Must be executable: </a:t>
            </a: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chmod +x </a:t>
            </a:r>
            <a:r>
              <a:rPr b="0" i="0" lang="en-US" sz="19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／ .git/hooks/に置くと自動実行。実行権限が必要。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1333500" y="2809875"/>
            <a:ext cx="15621000" cy="4005262"/>
          </a:xfrm>
          <a:prstGeom prst="roundRect">
            <a:avLst>
              <a:gd fmla="val 2854" name="adj"/>
            </a:avLst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1343025" y="2819400"/>
            <a:ext cx="2667000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"/>
          <p:cNvSpPr/>
          <p:nvPr/>
        </p:nvSpPr>
        <p:spPr>
          <a:xfrm>
            <a:off x="1343025" y="3495675"/>
            <a:ext cx="26670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1609725" y="2990850"/>
            <a:ext cx="221361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0883E"/>
                </a:solidFill>
                <a:latin typeface="Arial"/>
                <a:ea typeface="Arial"/>
                <a:cs typeface="Arial"/>
                <a:sym typeface="Arial"/>
              </a:rPr>
              <a:t>Hook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4010025" y="2819400"/>
            <a:ext cx="6467475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>
            <a:off x="4010025" y="3495675"/>
            <a:ext cx="64674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4276725" y="2990850"/>
            <a:ext cx="6128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0883E"/>
                </a:solidFill>
                <a:latin typeface="Arial"/>
                <a:ea typeface="Arial"/>
                <a:cs typeface="Arial"/>
                <a:sym typeface="Arial"/>
              </a:rPr>
              <a:t>Fires when… / タイミング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10477500" y="2819400"/>
            <a:ext cx="6467475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10477500" y="3495675"/>
            <a:ext cx="64674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10744200" y="2990850"/>
            <a:ext cx="6128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0883E"/>
                </a:solidFill>
                <a:latin typeface="Arial"/>
                <a:ea typeface="Arial"/>
                <a:cs typeface="Arial"/>
                <a:sym typeface="Arial"/>
              </a:rPr>
              <a:t>Real-world use / 実用例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1343025" y="4157663"/>
            <a:ext cx="266700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1609725" y="3676650"/>
            <a:ext cx="221361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pre-commit ★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4010025" y="4157663"/>
            <a:ext cx="6467475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4276725" y="3676650"/>
            <a:ext cx="612809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Before the commit is recorded </a:t>
            </a:r>
            <a:r>
              <a:rPr b="0" i="0" lang="en-US" sz="15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 コミット記録前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10477500" y="4157663"/>
            <a:ext cx="6467475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10744200" y="3676650"/>
            <a:ext cx="612809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Linter, type-check, secrets scan </a:t>
            </a:r>
            <a:r>
              <a:rPr b="0" i="0" lang="en-US" sz="15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 Lint・シークレット検出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1343025" y="4819650"/>
            <a:ext cx="266700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1609725" y="4338638"/>
            <a:ext cx="221361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commit-msg ★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4010025" y="4819650"/>
            <a:ext cx="6467475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4276725" y="4338638"/>
            <a:ext cx="612809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After the message is written </a:t>
            </a:r>
            <a:r>
              <a:rPr b="0" i="0" lang="en-US" sz="15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 メッセージ入力後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10477500" y="4819650"/>
            <a:ext cx="6467475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6"/>
          <p:cNvSpPr/>
          <p:nvPr/>
        </p:nvSpPr>
        <p:spPr>
          <a:xfrm>
            <a:off x="10744200" y="4338638"/>
            <a:ext cx="612809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Enforce commit-message format </a:t>
            </a:r>
            <a:r>
              <a:rPr b="0" i="0" lang="en-US" sz="15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 規約形式を強制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1343025" y="5481638"/>
            <a:ext cx="266700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1609725" y="5000625"/>
            <a:ext cx="221361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pre-push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4010025" y="5481638"/>
            <a:ext cx="6467475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4276725" y="5000625"/>
            <a:ext cx="612809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Before pushing to remote </a:t>
            </a:r>
            <a:r>
              <a:rPr b="0" i="0" lang="en-US" sz="15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 プッシュ前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10477500" y="5481638"/>
            <a:ext cx="6467475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10744200" y="5000625"/>
            <a:ext cx="612809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Run full test suite </a:t>
            </a:r>
            <a:r>
              <a:rPr b="0" i="0" lang="en-US" sz="15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 フルテスト実行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1343025" y="6143625"/>
            <a:ext cx="266700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1609725" y="5662613"/>
            <a:ext cx="221361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post-checkout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4010025" y="6143625"/>
            <a:ext cx="6467475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4276725" y="5662613"/>
            <a:ext cx="612809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After checkout / switch </a:t>
            </a:r>
            <a:r>
              <a:rPr b="0" i="0" lang="en-US" sz="15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 切り替え後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10477500" y="6143625"/>
            <a:ext cx="6467475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10744200" y="5662613"/>
            <a:ext cx="612809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Auto npm install </a:t>
            </a:r>
            <a:r>
              <a:rPr b="0" i="0" lang="en-US" sz="15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 自動インストール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1609725" y="6324600"/>
            <a:ext cx="221361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post-merge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4276725" y="6324600"/>
            <a:ext cx="612809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After a merge completes </a:t>
            </a:r>
            <a:r>
              <a:rPr b="0" i="0" lang="en-US" sz="15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 マージ後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10744200" y="6324600"/>
            <a:ext cx="6128099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Remind: run DB migrations </a:t>
            </a:r>
            <a:r>
              <a:rPr b="0" i="0" lang="en-US" sz="15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 マイグレーション通知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1333500" y="7043738"/>
            <a:ext cx="171831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0883E"/>
                </a:solidFill>
                <a:latin typeface="Arial"/>
                <a:ea typeface="Arial"/>
                <a:cs typeface="Arial"/>
                <a:sym typeface="Arial"/>
              </a:rPr>
              <a:t>★ = you'll install both of these in today's workshop ／ 今日のワークショップで両方導入する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7"/>
          <p:cNvSpPr/>
          <p:nvPr/>
        </p:nvSpPr>
        <p:spPr>
          <a:xfrm>
            <a:off x="185175" y="8367725"/>
            <a:ext cx="18709200" cy="16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oops.txt → git add oops.txt → git commit -m 'feat: config' → BLOCKED with the error message. 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Then walk the script top to bottom: pattern → scan staged files only → exit 1 blocks, exit 0 allows. 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Clean up: git restore --staged oops.txt; rm oops.txt. 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0" y="361950"/>
            <a:ext cx="20116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 Hook: Block Committed Secrets </a:t>
            </a:r>
            <a:r>
              <a:rPr b="1" i="0" lang="en-US" sz="2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● LIVE DEMO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0" y="1028700"/>
            <a:ext cx="201168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実用フック：シークレットのコミットをブロック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0" y="1819275"/>
            <a:ext cx="10739438" cy="5757863"/>
          </a:xfrm>
          <a:prstGeom prst="roundRect">
            <a:avLst>
              <a:gd fmla="val 1985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352425" y="2133600"/>
            <a:ext cx="1033562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.git/hooks/pre-commit (chmod +x)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352425" y="2738438"/>
            <a:ext cx="1033562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352425" y="3190875"/>
            <a:ext cx="1033562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Patterns that look like hardcoded secrets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352425" y="3643313"/>
            <a:ext cx="1033562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PATTERNS="(password|api_key|secret|token)..."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352425" y="4095750"/>
            <a:ext cx="1033562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Scan ONLY staged files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352425" y="4548188"/>
            <a:ext cx="1033562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if git diff --cached --name-only | \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352425" y="5000625"/>
            <a:ext cx="1033562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xargs grep -iE "$PATTERNS"; then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352425" y="5453063"/>
            <a:ext cx="1033562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echo "ERROR: possible secret in staged files"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352425" y="5905500"/>
            <a:ext cx="1033562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85149"/>
                </a:solidFill>
                <a:latin typeface="Courier New"/>
                <a:ea typeface="Courier New"/>
                <a:cs typeface="Courier New"/>
                <a:sym typeface="Courier New"/>
              </a:rPr>
              <a:t>exit 1 </a:t>
            </a:r>
            <a:r>
              <a:rPr b="0" i="0" lang="en-US" sz="187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non-zero exit BLOCKS the commit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352425" y="6357938"/>
            <a:ext cx="1033562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fi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352425" y="6810375"/>
            <a:ext cx="1033562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exit 0 </a:t>
            </a:r>
            <a:r>
              <a:rPr b="0" i="0" lang="en-US" sz="187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all clear — commit proceeds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11120438" y="1819275"/>
            <a:ext cx="7167563" cy="2124968"/>
          </a:xfrm>
          <a:prstGeom prst="roundRect">
            <a:avLst>
              <a:gd fmla="val 5379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11434763" y="2095500"/>
            <a:ext cx="71928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883E"/>
                </a:solidFill>
                <a:latin typeface="Arial"/>
                <a:ea typeface="Arial"/>
                <a:cs typeface="Arial"/>
                <a:sym typeface="Arial"/>
              </a:rPr>
              <a:t>How it works / 仕組み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11434763" y="2552700"/>
            <a:ext cx="673508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83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 runs this script before every commit. </a:t>
            </a:r>
            <a:r>
              <a:rPr b="0" i="0" lang="en-US" sz="1800" u="none" cap="none" strike="noStrike">
                <a:solidFill>
                  <a:srgbClr val="F85149"/>
                </a:solidFill>
                <a:latin typeface="Courier New"/>
                <a:ea typeface="Courier New"/>
                <a:cs typeface="Courier New"/>
                <a:sym typeface="Courier New"/>
              </a:rPr>
              <a:t>exit 1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commit blocked. </a:t>
            </a:r>
            <a:r>
              <a:rPr b="0" i="0" lang="en-US" sz="18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exit 0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commit proceeds.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11434763" y="3406080"/>
            <a:ext cx="7192804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コミット前に毎回実行。exit 1でブロック、exit 0で続行。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11120438" y="4172843"/>
            <a:ext cx="7167563" cy="2076376"/>
          </a:xfrm>
          <a:prstGeom prst="roundRect">
            <a:avLst>
              <a:gd fmla="val 5505" name="adj"/>
            </a:avLst>
          </a:prstGeom>
          <a:solidFill>
            <a:srgbClr val="F0883E">
              <a:alpha val="10196"/>
            </a:srgbClr>
          </a:solidFill>
          <a:ln cap="flat" cmpd="sng" w="9525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7"/>
          <p:cNvSpPr/>
          <p:nvPr/>
        </p:nvSpPr>
        <p:spPr>
          <a:xfrm>
            <a:off x="11434763" y="4449068"/>
            <a:ext cx="71928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883E"/>
                </a:solidFill>
                <a:latin typeface="Arial"/>
                <a:ea typeface="Arial"/>
                <a:cs typeface="Arial"/>
                <a:sym typeface="Arial"/>
              </a:rPr>
              <a:t>Team tip / チームへのヒント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11434763" y="4906268"/>
            <a:ext cx="6735080" cy="73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62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.git/hooks/ </a:t>
            </a:r>
            <a:r>
              <a:rPr b="0" i="0" lang="en-US" sz="17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 NOT committed. For team-shared hooks use </a:t>
            </a:r>
            <a:r>
              <a:rPr b="1" i="0" lang="en-US" sz="17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pre-commit </a:t>
            </a:r>
            <a:r>
              <a:rPr b="0" i="0" lang="en-US" sz="17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(Python) or </a:t>
            </a:r>
            <a:r>
              <a:rPr b="1" i="0" lang="en-US" sz="17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husky </a:t>
            </a:r>
            <a:r>
              <a:rPr b="0" i="0" lang="en-US" sz="17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(Node).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11434763" y="5683448"/>
            <a:ext cx="7192804" cy="3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1395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.git/hooks/はコミットされない。チーム共有にはpre-commitやhuskyを使う。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Worktrees: Two Branches, One Repo, No Stashing </a:t>
            </a:r>
            <a:r>
              <a:rPr b="1" i="0" lang="en-US" sz="2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● LIVE DEMO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ワークツリー：2ブランチ・1リポジトリ・stash不要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1333500" y="2238375"/>
            <a:ext cx="15621000" cy="1138238"/>
          </a:xfrm>
          <a:custGeom>
            <a:rect b="b" l="l" r="r" t="t"/>
            <a:pathLst>
              <a:path extrusionOk="0" h="1138238" w="15621000">
                <a:moveTo>
                  <a:pt x="0" y="0"/>
                </a:moveTo>
                <a:lnTo>
                  <a:pt x="15506700" y="0"/>
                </a:lnTo>
                <a:cubicBezTo>
                  <a:pt x="15537014" y="0"/>
                  <a:pt x="15566087" y="12042"/>
                  <a:pt x="15587522" y="33478"/>
                </a:cubicBezTo>
                <a:cubicBezTo>
                  <a:pt x="15608958" y="54913"/>
                  <a:pt x="15621000" y="83986"/>
                  <a:pt x="15621000" y="114300"/>
                </a:cubicBezTo>
                <a:lnTo>
                  <a:pt x="15621000" y="1023938"/>
                </a:lnTo>
                <a:cubicBezTo>
                  <a:pt x="15621000" y="1087064"/>
                  <a:pt x="15569826" y="1138238"/>
                  <a:pt x="15506700" y="1138238"/>
                </a:cubicBezTo>
                <a:lnTo>
                  <a:pt x="0" y="1138238"/>
                </a:lnTo>
                <a:lnTo>
                  <a:pt x="0" y="0"/>
                </a:lnTo>
                <a:close/>
              </a:path>
            </a:pathLst>
          </a:cu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8"/>
          <p:cNvSpPr/>
          <p:nvPr/>
        </p:nvSpPr>
        <p:spPr>
          <a:xfrm>
            <a:off x="1333500" y="2238375"/>
            <a:ext cx="57150" cy="1138238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1695450" y="2466975"/>
            <a:ext cx="164496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Scenario: deep in a refactor on </a:t>
            </a:r>
            <a:r>
              <a:rPr b="0" i="0" lang="en-US" sz="2025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feature/payments</a:t>
            </a:r>
            <a:r>
              <a:rPr b="0" i="0" lang="en-US" sz="20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. Urgent bug arrives. Without worktrees: stash everything, switch, fix, pop, pray.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1695450" y="2857500"/>
            <a:ext cx="1644967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リファクタ中に緊急バグ。ワークツリーなしなら：全部stash → 切替 → 修正 → pop → 祈る。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1333500" y="3681413"/>
            <a:ext cx="15621000" cy="4095750"/>
          </a:xfrm>
          <a:prstGeom prst="roundRect">
            <a:avLst>
              <a:gd fmla="val 2791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8"/>
          <p:cNvSpPr/>
          <p:nvPr/>
        </p:nvSpPr>
        <p:spPr>
          <a:xfrm>
            <a:off x="1685925" y="3995738"/>
            <a:ext cx="1536363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Second working directory — same .git, different folder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1685925" y="4491038"/>
            <a:ext cx="1536363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worktree add ../payments-hotfix main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1685925" y="4986338"/>
            <a:ext cx="1536363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/my-project ← feature/payments (untouched / 手つかず)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1685925" y="5481638"/>
            <a:ext cx="1536363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/payments-hotfix ← main, clean slate / まっさら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1685925" y="5976938"/>
            <a:ext cx="1536363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cd ../payments-hotfix &amp;&amp; git checkout -b hotfix/crash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1685925" y="6472238"/>
            <a:ext cx="1536363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fix → commit → push → PR, feature branch untouched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1685925" y="6967538"/>
            <a:ext cx="1536363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271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worktree remove ../payments-hotfix </a:t>
            </a:r>
            <a:r>
              <a:rPr b="0" i="0" lang="en-US" sz="1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cleanup / 片付け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1333500" y="8043863"/>
            <a:ext cx="1608963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Both folders share one </a:t>
            </a: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.git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— you cannot check out the same branch twice. ／ 両フォルダは同じ.gitを共有。同じブランチは同時に2箇所でチェックアウト不可。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9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reflog: Git Almost Never Deletes Your Work </a:t>
            </a:r>
            <a:r>
              <a:rPr b="1" i="0" lang="en-US" sz="225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● LIVE DEMO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reflog：Gitはあなたの作業をほぼ削除しない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1333500" y="2124075"/>
            <a:ext cx="16089630" cy="9447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6462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Every time HEAD moves — commit, reset, rebase, checkout — Git writes a diary entry. That diary is </a:t>
            </a:r>
            <a:r>
              <a:rPr b="0" i="0" lang="en-US" sz="2100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git reflog </a:t>
            </a:r>
            <a:r>
              <a:rPr b="0" i="0" lang="en-US" sz="21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. "Lost" commits are still there.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1333500" y="3106936"/>
            <a:ext cx="1718310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HEADが動くたびにGitは日記を書く。それがreflog。「消えた」コミットはまだそこにある。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1333500" y="3749873"/>
            <a:ext cx="8920386" cy="5679877"/>
          </a:xfrm>
          <a:prstGeom prst="roundRect">
            <a:avLst>
              <a:gd fmla="val 2012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9"/>
          <p:cNvSpPr/>
          <p:nvPr/>
        </p:nvSpPr>
        <p:spPr>
          <a:xfrm>
            <a:off x="1685925" y="4064198"/>
            <a:ext cx="846200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5439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reflog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1685925" y="4540448"/>
            <a:ext cx="846200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5439"/>
              </a:lnSpc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a3f9d82 </a:t>
            </a: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HEAD@{0}: commit: fix login flow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1685925" y="5016698"/>
            <a:ext cx="846200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5439"/>
              </a:lnSpc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f1e2c3d </a:t>
            </a: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HEAD@{1}: rebase (finish)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1685925" y="5492948"/>
            <a:ext cx="846200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5439"/>
              </a:lnSpc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3c2b1a0 </a:t>
            </a: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HEAD@{2}: checkout: main → feature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1685925" y="5969198"/>
            <a:ext cx="8215536" cy="476250"/>
          </a:xfrm>
          <a:prstGeom prst="roundRect">
            <a:avLst>
              <a:gd fmla="val 12000" name="adj"/>
            </a:avLst>
          </a:prstGeom>
          <a:solidFill>
            <a:srgbClr val="F85149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1762125" y="5969198"/>
            <a:ext cx="830960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5439"/>
              </a:lnSpc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d4e5f6a </a:t>
            </a: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HEAD@{3}: reset --hard HEAD~3 </a:t>
            </a:r>
            <a:r>
              <a:rPr b="0" i="0" lang="en-US" sz="1875" u="none" cap="none" strike="noStrike">
                <a:solidFill>
                  <a:srgbClr val="F85149"/>
                </a:solidFill>
                <a:latin typeface="Courier New"/>
                <a:ea typeface="Courier New"/>
                <a:cs typeface="Courier New"/>
                <a:sym typeface="Courier New"/>
              </a:rPr>
              <a:t>← oh no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1685925" y="6445448"/>
            <a:ext cx="8215536" cy="476250"/>
          </a:xfrm>
          <a:prstGeom prst="roundRect">
            <a:avLst>
              <a:gd fmla="val 12000" name="adj"/>
            </a:avLst>
          </a:prstGeom>
          <a:solidFill>
            <a:srgbClr val="3FB950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9"/>
          <p:cNvSpPr/>
          <p:nvPr/>
        </p:nvSpPr>
        <p:spPr>
          <a:xfrm>
            <a:off x="1762125" y="6445448"/>
            <a:ext cx="830960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5439"/>
              </a:lnSpc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0883E"/>
                </a:solidFill>
                <a:latin typeface="Courier New"/>
                <a:ea typeface="Courier New"/>
                <a:cs typeface="Courier New"/>
                <a:sym typeface="Courier New"/>
              </a:rPr>
              <a:t>7a8b9c0 </a:t>
            </a:r>
            <a:r>
              <a:rPr b="0" i="0" lang="en-US" sz="1875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HEAD@{4}: commit: precious work </a:t>
            </a:r>
            <a:r>
              <a:rPr b="0" i="0" lang="en-US" sz="187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← still here!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10634886" y="3749873"/>
            <a:ext cx="6319614" cy="2343150"/>
          </a:xfrm>
          <a:prstGeom prst="roundRect">
            <a:avLst>
              <a:gd fmla="val 4878" name="adj"/>
            </a:avLst>
          </a:prstGeom>
          <a:solidFill>
            <a:srgbClr val="161B22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10949211" y="4026098"/>
            <a:ext cx="626006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The one recovery recipe / 復旧レシピはこれ1つ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10949211" y="4521398"/>
            <a:ext cx="5861693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reflog </a:t>
            </a:r>
            <a:r>
              <a:rPr b="0" i="0" lang="en-US" sz="187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find the good state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10949211" y="4973836"/>
            <a:ext cx="5861693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reset --hard HEAD@{4}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10949211" y="5540573"/>
            <a:ext cx="626006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reflogで良い状態を見つけて、そこへ戻るだけ。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10634886" y="6283523"/>
            <a:ext cx="6319614" cy="1714500"/>
          </a:xfrm>
          <a:prstGeom prst="roundRect">
            <a:avLst>
              <a:gd fmla="val 6667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10949211" y="6559748"/>
            <a:ext cx="586169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6552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Deleted branch? Same idea: </a:t>
            </a:r>
            <a:r>
              <a:rPr b="0" i="0" lang="en-US" sz="1875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git checkout -b rescued HEAD@{N}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10949211" y="7445573"/>
            <a:ext cx="626006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削除したブランチも同じ考え方で復活できる。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0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The 'Oh No' Playbook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「やばい！」対処集 — 4つの事故、4つの復旧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1333500" y="2314575"/>
            <a:ext cx="7677150" cy="3424238"/>
          </a:xfrm>
          <a:prstGeom prst="roundRect">
            <a:avLst>
              <a:gd fmla="val 3338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1647825" y="2628900"/>
            <a:ext cx="77533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"I committed to main by accident"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0"/>
          <p:cNvSpPr/>
          <p:nvPr/>
        </p:nvSpPr>
        <p:spPr>
          <a:xfrm>
            <a:off x="1647825" y="2981325"/>
            <a:ext cx="775335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誤ってmainにコミットした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1647825" y="3462338"/>
            <a:ext cx="7048500" cy="1553394"/>
          </a:xfrm>
          <a:prstGeom prst="roundRect">
            <a:avLst>
              <a:gd fmla="val 4905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0"/>
          <p:cNvSpPr/>
          <p:nvPr/>
        </p:nvSpPr>
        <p:spPr>
          <a:xfrm>
            <a:off x="1838325" y="3614738"/>
            <a:ext cx="6867525" cy="454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077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branch my-feature </a:t>
            </a:r>
            <a:r>
              <a:rPr b="0" i="0" lang="en-US" sz="172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save work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1838325" y="4030935"/>
            <a:ext cx="6867525" cy="454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077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reset --hard origin/main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1838325" y="4447133"/>
            <a:ext cx="6867525" cy="454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077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commits are safe on my-feature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9277350" y="2314575"/>
            <a:ext cx="7677150" cy="3424238"/>
          </a:xfrm>
          <a:prstGeom prst="roundRect">
            <a:avLst>
              <a:gd fmla="val 3338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0"/>
          <p:cNvSpPr/>
          <p:nvPr/>
        </p:nvSpPr>
        <p:spPr>
          <a:xfrm>
            <a:off x="9591675" y="2628900"/>
            <a:ext cx="77533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"I reset --hard and lost work"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9591675" y="2981325"/>
            <a:ext cx="775335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reset --hardで作業が消えた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9591675" y="3462338"/>
            <a:ext cx="7048500" cy="1553394"/>
          </a:xfrm>
          <a:prstGeom prst="roundRect">
            <a:avLst>
              <a:gd fmla="val 4905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9782175" y="3614738"/>
            <a:ext cx="6867525" cy="454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077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reflog </a:t>
            </a:r>
            <a:r>
              <a:rPr b="0" i="0" lang="en-US" sz="172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find the commit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9782175" y="4030935"/>
            <a:ext cx="6867525" cy="454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077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reset --hard HEAD@{N}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9782175" y="4447133"/>
            <a:ext cx="6867525" cy="454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077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nothing was ever deleted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1333500" y="6005513"/>
            <a:ext cx="7677150" cy="3424238"/>
          </a:xfrm>
          <a:prstGeom prst="roundRect">
            <a:avLst>
              <a:gd fmla="val 3338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0"/>
          <p:cNvSpPr/>
          <p:nvPr/>
        </p:nvSpPr>
        <p:spPr>
          <a:xfrm>
            <a:off x="1647825" y="6319838"/>
            <a:ext cx="77533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"I committed a secret / API key"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1647825" y="6672263"/>
            <a:ext cx="775335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シークレット・APIキーをコミットした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1647825" y="7153275"/>
            <a:ext cx="7048500" cy="1553394"/>
          </a:xfrm>
          <a:prstGeom prst="roundRect">
            <a:avLst>
              <a:gd fmla="val 4905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0"/>
          <p:cNvSpPr/>
          <p:nvPr/>
        </p:nvSpPr>
        <p:spPr>
          <a:xfrm>
            <a:off x="1838325" y="7305675"/>
            <a:ext cx="6867525" cy="454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077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F85149"/>
                </a:solidFill>
                <a:latin typeface="Courier New"/>
                <a:ea typeface="Courier New"/>
                <a:cs typeface="Courier New"/>
                <a:sym typeface="Courier New"/>
              </a:rPr>
              <a:t># 1. ROTATE THE KEY NOW（まずキー無効化）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1838325" y="7721873"/>
            <a:ext cx="6867525" cy="454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077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filter-repo --path .env --invert-paths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1838325" y="8138071"/>
            <a:ext cx="6867525" cy="454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077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then force-push — history is public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9277350" y="6005513"/>
            <a:ext cx="7677150" cy="3424238"/>
          </a:xfrm>
          <a:prstGeom prst="roundRect">
            <a:avLst>
              <a:gd fmla="val 3338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0"/>
          <p:cNvSpPr/>
          <p:nvPr/>
        </p:nvSpPr>
        <p:spPr>
          <a:xfrm>
            <a:off x="9591675" y="6319838"/>
            <a:ext cx="77533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"My merge conflict got worse"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9591675" y="6672263"/>
            <a:ext cx="775335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マージコンフリクトが悪化した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9591675" y="7153275"/>
            <a:ext cx="7048500" cy="1553394"/>
          </a:xfrm>
          <a:prstGeom prst="roundRect">
            <a:avLst>
              <a:gd fmla="val 4905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9782175" y="7305675"/>
            <a:ext cx="6867525" cy="454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077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merge --abort </a:t>
            </a:r>
            <a:r>
              <a:rPr b="0" i="0" lang="en-US" sz="172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start over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9782175" y="7721873"/>
            <a:ext cx="6867525" cy="454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077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$ git checkout --conflict=diff3 file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9782175" y="8138071"/>
            <a:ext cx="6867525" cy="454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077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see ours/theirs/base — resolve fresh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8b9162472a_0_0"/>
          <p:cNvSpPr txBox="1"/>
          <p:nvPr/>
        </p:nvSpPr>
        <p:spPr>
          <a:xfrm>
            <a:off x="1687075" y="1172725"/>
            <a:ext cx="14442900" cy="20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200">
                <a:solidFill>
                  <a:srgbClr val="E6EDF3"/>
                </a:solidFill>
              </a:rPr>
              <a:t>After Exercise 1 or 2 — Submit a PR</a:t>
            </a:r>
            <a:endParaRPr b="1" sz="4200">
              <a:solidFill>
                <a:srgbClr val="E6ED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highlight>
                  <a:srgbClr val="161B22"/>
                </a:highlight>
              </a:rPr>
              <a:t>演習1が終わったら — PRを作成する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527" name="Google Shape;527;g38b9162472a_0_0"/>
          <p:cNvSpPr/>
          <p:nvPr/>
        </p:nvSpPr>
        <p:spPr>
          <a:xfrm>
            <a:off x="1954525" y="2921500"/>
            <a:ext cx="15595200" cy="26334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8b9162472a_0_0"/>
          <p:cNvSpPr/>
          <p:nvPr/>
        </p:nvSpPr>
        <p:spPr>
          <a:xfrm>
            <a:off x="1954525" y="6448025"/>
            <a:ext cx="15595200" cy="26334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8b9162472a_0_0"/>
          <p:cNvSpPr txBox="1"/>
          <p:nvPr/>
        </p:nvSpPr>
        <p:spPr>
          <a:xfrm>
            <a:off x="2715775" y="3291850"/>
            <a:ext cx="143196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このリポジトリにPull Requestを作成する：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9198A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https://github.com/rgstechjp/ryudai_git_2026</a:t>
            </a:r>
            <a:endParaRPr b="1" sz="4000">
              <a:solidFill>
                <a:srgbClr val="9198A1"/>
              </a:solidFill>
            </a:endParaRPr>
          </a:p>
        </p:txBody>
      </p:sp>
      <p:sp>
        <p:nvSpPr>
          <p:cNvPr id="530" name="Google Shape;530;g38b9162472a_0_0"/>
          <p:cNvSpPr txBox="1"/>
          <p:nvPr/>
        </p:nvSpPr>
        <p:spPr>
          <a:xfrm>
            <a:off x="2448300" y="6830575"/>
            <a:ext cx="14587200" cy="20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</a:rPr>
              <a:t>新しいファイルを作成：お名前_studentID.txt</a:t>
            </a:r>
            <a:endParaRPr b="1" sz="4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ファイルの中に、演習1のリポジトリURLを書く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(</a:t>
            </a:r>
            <a:r>
              <a:rPr lang="en-US" sz="2500">
                <a:solidFill>
                  <a:schemeClr val="lt1"/>
                </a:solidFill>
              </a:rPr>
              <a:t>2. Inside the file, write your Exercise 1 repo URL</a:t>
            </a:r>
            <a:r>
              <a:rPr lang="en-US" sz="4000">
                <a:solidFill>
                  <a:schemeClr val="lt1"/>
                </a:solidFill>
              </a:rPr>
              <a:t>)</a:t>
            </a:r>
            <a:endParaRPr sz="4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2026-08-23T12:18:58Z</dcterms:created>
  <dc:creator>PptxGenJS</dc:creator>
</cp:coreProperties>
</file>